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857250"/>
            <a:ext cx="4566279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2B6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Digital Governance &amp; The Modern Citizen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71500" y="2651727"/>
            <a:ext cx="4297663" cy="51077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Bridging STEM and Civics: A Framework for Engineering Students and Faculty</a:t>
            </a:r>
            <a:endParaRPr lang="en-US" sz="1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559498"/>
            <a:ext cx="142875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4375" y="4555927"/>
            <a:ext cx="2777133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2AB98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Academic Professor in Political Science &amp; Civics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B6777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550" y="1857375"/>
            <a:ext cx="714375" cy="57150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675" y="1857375"/>
            <a:ext cx="714375" cy="57150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550" y="2714625"/>
            <a:ext cx="714375" cy="571500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6675" y="2714625"/>
            <a:ext cx="71437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4286250" cy="1131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2B6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Digital Transformation of Governance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885825" y="1988753"/>
            <a:ext cx="48291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B6777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Rapid Digitalization:</a:t>
            </a:r>
            <a:r>
              <a:rPr lang="en-US" sz="12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 Reshaping public administration and citizen </a:t>
            </a:r>
            <a:r>
              <a:rPr lang="en-US" sz="12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engagement through global ICT integration.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85825" y="2683092"/>
            <a:ext cx="48291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B6777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Defining Governance:</a:t>
            </a:r>
            <a:r>
              <a:rPr lang="en-US" sz="12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 Enhancing services (G2C) and fostering </a:t>
            </a:r>
            <a:r>
              <a:rPr lang="en-US" sz="12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participation through seamless information exchange.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85825" y="3377431"/>
            <a:ext cx="48291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B6777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STEM's Pivotal Role:</a:t>
            </a:r>
            <a:r>
              <a:rPr lang="en-US" sz="12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 Indispensable contribution of engineers in </a:t>
            </a:r>
            <a:r>
              <a:rPr lang="en-US" sz="12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designing and securing complex digital ecosystems.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85825" y="4071770"/>
            <a:ext cx="48291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B6777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Bridging the Divide:</a:t>
            </a:r>
            <a:r>
              <a:rPr lang="en-US" sz="12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 Integrating technical innovation with deep civic </a:t>
            </a:r>
            <a:r>
              <a:rPr lang="en-US" sz="12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responsibility and public policy awareness.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9344" y="2131628"/>
            <a:ext cx="2500313" cy="2500313"/>
          </a:xfrm>
          <a:prstGeom prst="ellipse">
            <a:avLst/>
          </a:prstGeom>
          <a:solidFill>
            <a:srgbClr val="F2A365">
              <a:alpha val="90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773" y="2846003"/>
            <a:ext cx="1339453" cy="10715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4286250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2B6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Architecting Public Service Delivery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540148"/>
            <a:ext cx="428625" cy="428625"/>
          </a:xfrm>
          <a:prstGeom prst="ellipse">
            <a:avLst/>
          </a:prstGeom>
          <a:solidFill>
            <a:srgbClr val="52AB98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03" y="1668735"/>
            <a:ext cx="150019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3000" y="1540148"/>
            <a:ext cx="311467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6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G2C (Citizen)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143000" y="1793751"/>
            <a:ext cx="31146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Direct services like online tax filing, digital identity, and public information portals.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543425" y="1540148"/>
            <a:ext cx="428625" cy="428625"/>
          </a:xfrm>
          <a:prstGeom prst="ellipse">
            <a:avLst/>
          </a:prstGeom>
          <a:solidFill>
            <a:srgbClr val="52AB98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013" y="1668735"/>
            <a:ext cx="171450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114925" y="1540148"/>
            <a:ext cx="311467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6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G2B (Business)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114925" y="1793751"/>
            <a:ext cx="31146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Facilitating registrations, procurement, and regulatory compliance for commercial entities.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571500" y="2439535"/>
            <a:ext cx="428625" cy="428625"/>
          </a:xfrm>
          <a:prstGeom prst="ellipse">
            <a:avLst/>
          </a:prstGeom>
          <a:solidFill>
            <a:srgbClr val="52AB98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8" y="2568122"/>
            <a:ext cx="171450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2439535"/>
            <a:ext cx="311467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6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G2G (Government)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1143000" y="2693138"/>
            <a:ext cx="31146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Enhancing efficiency and data sharing between inter-departmental databases and agencies.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4543425" y="2439535"/>
            <a:ext cx="428625" cy="428625"/>
          </a:xfrm>
          <a:prstGeom prst="ellipse">
            <a:avLst/>
          </a:prstGeom>
          <a:solidFill>
            <a:srgbClr val="52AB98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1297" y="2568122"/>
            <a:ext cx="192881" cy="1714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114925" y="2439535"/>
            <a:ext cx="311467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6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G2E (Employee)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5114925" y="2693138"/>
            <a:ext cx="31146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Internal operations, HR portals, and communication systems for public sector staff.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0" y="3481797"/>
            <a:ext cx="8229600" cy="6715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1" name="Shape 14"/>
          <p:cNvSpPr/>
          <p:nvPr/>
        </p:nvSpPr>
        <p:spPr>
          <a:xfrm>
            <a:off x="0" y="3481797"/>
            <a:ext cx="8229600" cy="14288"/>
          </a:xfrm>
          <a:prstGeom prst="rect">
            <a:avLst/>
          </a:prstGeom>
          <a:solidFill>
            <a:srgbClr val="F2A365"/>
          </a:solidFill>
          <a:ln/>
        </p:spPr>
      </p:sp>
      <p:sp>
        <p:nvSpPr>
          <p:cNvPr id="22" name="Shape 15"/>
          <p:cNvSpPr/>
          <p:nvPr/>
        </p:nvSpPr>
        <p:spPr>
          <a:xfrm>
            <a:off x="571500" y="3696109"/>
            <a:ext cx="1088920" cy="442913"/>
          </a:xfrm>
          <a:prstGeom prst="rect">
            <a:avLst/>
          </a:prstGeom>
          <a:solidFill>
            <a:srgbClr val="F2A365"/>
          </a:solidFill>
          <a:ln/>
        </p:spPr>
      </p:sp>
      <p:sp>
        <p:nvSpPr>
          <p:cNvPr id="23" name="Text 16"/>
          <p:cNvSpPr/>
          <p:nvPr/>
        </p:nvSpPr>
        <p:spPr>
          <a:xfrm>
            <a:off x="571500" y="3696109"/>
            <a:ext cx="1088920" cy="442913"/>
          </a:xfrm>
          <a:prstGeom prst="rect">
            <a:avLst/>
          </a:prstGeom>
          <a:noFill/>
          <a:ln/>
        </p:spPr>
        <p:txBody>
          <a:bodyPr wrap="none" lIns="170053" tIns="68072" rIns="170053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INDIA CASE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1874732" y="3758617"/>
            <a:ext cx="6354868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6777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Digital Public Infrastructure (DPI):</a:t>
            </a: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 A state-led approach featuring foundational platforms like </a:t>
            </a:r>
            <a:r>
              <a:rPr lang="en-US" sz="1000" b="1" dirty="0">
                <a:solidFill>
                  <a:srgbClr val="2B6777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Aadhaar</a:t>
            </a: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 and </a:t>
            </a:r>
            <a:r>
              <a:rPr lang="en-US" sz="1000" b="1" dirty="0">
                <a:solidFill>
                  <a:srgbClr val="2B6777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UPI</a:t>
            </a: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4714875" cy="1131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2B6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Empowering Citizens: Legislative Tracking with PRS India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857250" y="1917316"/>
            <a:ext cx="4429125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B6777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Bridging the Information Gap:</a:t>
            </a:r>
            <a:r>
              <a:rPr lang="en-US" sz="11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 Providing high-quality, non-partisan </a:t>
            </a:r>
            <a:r>
              <a:rPr lang="en-US" sz="11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research to legislators and the public to enhance transparency.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57250" y="2535920"/>
            <a:ext cx="4429125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B6777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Technological Facilitation:</a:t>
            </a:r>
            <a:r>
              <a:rPr lang="en-US" sz="11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 Using data aggregation and visualization </a:t>
            </a:r>
            <a:r>
              <a:rPr lang="en-US" sz="11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to track bills, debates, and representative performance.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57250" y="3154524"/>
            <a:ext cx="4429125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B6777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Civic Accountability:</a:t>
            </a:r>
            <a:r>
              <a:rPr lang="en-US" sz="11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 Making complex legislative processes </a:t>
            </a:r>
            <a:r>
              <a:rPr lang="en-US" sz="11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accessible, fostering informed policy-making and public oversight.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7250" y="3773128"/>
            <a:ext cx="4429125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B6777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STEM Integration:</a:t>
            </a:r>
            <a:r>
              <a:rPr lang="en-US" sz="11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 Demonstrating how data science and UI design </a:t>
            </a:r>
            <a:r>
              <a:rPr lang="en-US" sz="11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directly support democratic health and civic education.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786438" y="2060191"/>
            <a:ext cx="2857500" cy="2857500"/>
          </a:xfrm>
          <a:prstGeom prst="ellipse">
            <a:avLst/>
          </a:prstGeom>
          <a:solidFill>
            <a:srgbClr val="52AB9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9438" y="2531343"/>
            <a:ext cx="571500" cy="571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72188" y="3245718"/>
            <a:ext cx="2286000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PRS LEGISLATIVE RESEARCH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072188" y="3777928"/>
            <a:ext cx="2286000" cy="66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Making the legislative process better informed, more transparent, and participatory through independent research.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428750"/>
          </a:xfrm>
          <a:prstGeom prst="rect">
            <a:avLst/>
          </a:prstGeom>
          <a:solidFill>
            <a:srgbClr val="52AB98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428625"/>
            <a:ext cx="4286250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Data Privacy: A Fundamental Civic Right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857250" y="1857375"/>
            <a:ext cx="357187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6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Beyond Technicality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57250" y="2110978"/>
            <a:ext cx="35718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Framing privacy as a core civic right essential for democratic participation, individual autonomy, and protection against pervasive surveillance.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7250" y="2975372"/>
            <a:ext cx="357187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6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Legal Frameworks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7250" y="3228975"/>
            <a:ext cx="35718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Global standards like GDPR and India's DPDP Act establish the regulatory guardrails necessary to safeguard citizen data in digital ecosystems.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143500" y="1857375"/>
            <a:ext cx="357187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6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Privacy by Design (PbD)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143500" y="2110978"/>
            <a:ext cx="35718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An engineering mandate to proactively embed privacy protection measures into the technical architecture from the initial design phase.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143500" y="2975372"/>
            <a:ext cx="357187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6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Societal Impact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143500" y="3228975"/>
            <a:ext cx="35718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Data breaches erode public trust and risk algorithmic discrimination, necessitating robust technical and policy-driven accountability.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4714875" cy="1131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2B6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Technical Architecture &amp; Public Policy: When Code Becomes Law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917316"/>
            <a:ext cx="357187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52AB9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"CODE IS LAW" PRINCIPLE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7244" y="2292362"/>
            <a:ext cx="333613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B6777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Architectural Regulation:</a:t>
            </a: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 Lawrence Lessig’s concept that </a:t>
            </a: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technical code regulates behavior as effectively as legal </a:t>
            </a: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statutes.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7244" y="3071031"/>
            <a:ext cx="33361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B6777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Embedded Policy:</a:t>
            </a: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 Design choices in authentication and </a:t>
            </a: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data sharing directly translate into societal outcomes.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71500" y="3649675"/>
            <a:ext cx="3571875" cy="571500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3649675"/>
            <a:ext cx="28575" cy="571500"/>
          </a:xfrm>
          <a:prstGeom prst="rect">
            <a:avLst/>
          </a:prstGeom>
          <a:solidFill>
            <a:srgbClr val="2B6777"/>
          </a:solidFill>
          <a:ln/>
        </p:spPr>
      </p:sp>
      <p:sp>
        <p:nvSpPr>
          <p:cNvPr id="9" name="Text 6"/>
          <p:cNvSpPr/>
          <p:nvPr/>
        </p:nvSpPr>
        <p:spPr>
          <a:xfrm>
            <a:off x="714375" y="3792550"/>
            <a:ext cx="32861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"Code is law. It is the regulatory framework of cyberspace, defining what is possible and what is prohibited." — Lawrence Lessig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729163" y="1917316"/>
            <a:ext cx="3557588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52AB9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DPI AS POLICY ENABLER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64906" y="2292362"/>
            <a:ext cx="332184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B6777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Aadhaar:</a:t>
            </a: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 A technical identity layer enabling direct </a:t>
            </a: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subsidy delivery and financial inclusion at population </a:t>
            </a: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scale.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964906" y="3071031"/>
            <a:ext cx="332184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B6777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UPI:</a:t>
            </a: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 Operational governance by NPCI that facilitates </a:t>
            </a: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rapid digital payments through open architecture.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964906" y="3649675"/>
            <a:ext cx="332184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B6777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Engineering Mandate:</a:t>
            </a: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 Technologists must recognize the </a:t>
            </a: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policy weight of their architectural decisions.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4714875" cy="660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100" b="1" dirty="0">
                <a:solidFill>
                  <a:srgbClr val="2B6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Algorithmic Governance &amp; Civic Accountability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21531" y="1374446"/>
            <a:ext cx="446484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B6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Automated Decision-Making:</a:t>
            </a: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 Increasing reliance on AI for resource </a:t>
            </a: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allocation, predictive policing, and social welfare assessments.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821531" y="1945946"/>
            <a:ext cx="446484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B6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Black Box Problem:</a:t>
            </a: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 Opaque logic in algorithmic systems hinders </a:t>
            </a: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transparency, judicial review, and citizen redressal.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821531" y="2517446"/>
            <a:ext cx="446484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B6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Accountability Gaps:</a:t>
            </a: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 Algorithmic bias and lack of explainability can </a:t>
            </a: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amplify existing societal inequalities and discrimination.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21531" y="3088946"/>
            <a:ext cx="446484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B6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Oversight Mechanisms:</a:t>
            </a: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 Necessity for robust auditing frameworks, </a:t>
            </a: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ethical guidelines, and mandatory human-in-the-loop protocols.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21531" y="3660446"/>
            <a:ext cx="446484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B6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STEM Responsibility:</a:t>
            </a: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 Engineers must design transparent and fair </a:t>
            </a: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systems that prioritize public interest over technical efficiency.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857875" y="1517321"/>
            <a:ext cx="2714625" cy="2714625"/>
          </a:xfrm>
          <a:prstGeom prst="rect">
            <a:avLst/>
          </a:prstGeom>
          <a:solidFill>
            <a:srgbClr val="1E1E1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0" y="2874634"/>
            <a:ext cx="250031" cy="285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92847" y="2660321"/>
            <a:ext cx="1644653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BLACK BOX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608862" y="2962145"/>
            <a:ext cx="121265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>
                    <a:alpha val="70000"/>
                  </a:srgbClr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Opaque Algorithmic Logic</a:t>
            </a:r>
            <a:endParaRPr lang="en-US" sz="8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1094" y="2874634"/>
            <a:ext cx="250031" cy="285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0" y="4889897"/>
            <a:ext cx="9144000" cy="253603"/>
          </a:xfrm>
          <a:prstGeom prst="rect">
            <a:avLst/>
          </a:prstGeom>
          <a:noFill/>
          <a:ln/>
        </p:spPr>
        <p:txBody>
          <a:bodyPr wrap="square" lIns="680339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2AB9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Reference: Katzenbach &amp; Ulbricht (2019). Algorithmic governance. Internet Policy Review.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4714875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2B6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Engineering for Trust and Autonomy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857250" y="1540148"/>
            <a:ext cx="442912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6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Beyond Compliance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57250" y="1758032"/>
            <a:ext cx="442912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Moving from regulatory checkboxes to embedding privacy as a core design principle for democratic functioning.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57250" y="2368097"/>
            <a:ext cx="442912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6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Privacy Engineering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7250" y="2585982"/>
            <a:ext cx="442912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Integrating privacy controls throughout the system development lifecycle (SDLC) as a specialized discipline.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57250" y="3196047"/>
            <a:ext cx="442912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6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Technical Solutions (PETs)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57250" y="3413931"/>
            <a:ext cx="442912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Leveraging differential privacy, homomorphic encryption, and secure multi-party computation to protect data.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57250" y="4023996"/>
            <a:ext cx="442912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6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Engineer's Mandate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57250" y="4241881"/>
            <a:ext cx="442912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Ethical obligation to champion technical solutions that empower citizens with control over their digital footprint.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786438" y="1683023"/>
            <a:ext cx="2857500" cy="2857500"/>
          </a:xfrm>
          <a:prstGeom prst="ellipse">
            <a:avLst/>
          </a:prstGeom>
          <a:solidFill>
            <a:srgbClr val="52AB9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406" y="2480444"/>
            <a:ext cx="1071563" cy="8572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19050" y="3480569"/>
            <a:ext cx="1592275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CIVIC TRUST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7666416" y="1968773"/>
            <a:ext cx="1120397" cy="230386"/>
          </a:xfrm>
          <a:prstGeom prst="roundRect">
            <a:avLst/>
          </a:prstGeom>
          <a:solidFill>
            <a:srgbClr val="2B6777"/>
          </a:solidFill>
          <a:ln/>
        </p:spPr>
      </p:sp>
      <p:sp>
        <p:nvSpPr>
          <p:cNvPr id="16" name="Text 12"/>
          <p:cNvSpPr/>
          <p:nvPr/>
        </p:nvSpPr>
        <p:spPr>
          <a:xfrm>
            <a:off x="7666416" y="1968773"/>
            <a:ext cx="1120397" cy="230386"/>
          </a:xfrm>
          <a:prstGeom prst="rect">
            <a:avLst/>
          </a:prstGeom>
          <a:noFill/>
          <a:ln/>
        </p:spPr>
        <p:txBody>
          <a:bodyPr wrap="none" lIns="127508" tIns="68072" rIns="1275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Differential Privacy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5500688" y="3738637"/>
            <a:ext cx="1442312" cy="230386"/>
          </a:xfrm>
          <a:prstGeom prst="roundRect">
            <a:avLst/>
          </a:prstGeom>
          <a:solidFill>
            <a:srgbClr val="2B6777"/>
          </a:solidFill>
          <a:ln/>
        </p:spPr>
      </p:sp>
      <p:sp>
        <p:nvSpPr>
          <p:cNvPr id="18" name="Text 14"/>
          <p:cNvSpPr/>
          <p:nvPr/>
        </p:nvSpPr>
        <p:spPr>
          <a:xfrm>
            <a:off x="5500688" y="3738637"/>
            <a:ext cx="1442312" cy="230386"/>
          </a:xfrm>
          <a:prstGeom prst="rect">
            <a:avLst/>
          </a:prstGeom>
          <a:noFill/>
          <a:ln/>
        </p:spPr>
        <p:txBody>
          <a:bodyPr wrap="square" lIns="127508" tIns="68072" rIns="1275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Homomorphic Encryption</a:t>
            </a:r>
            <a:endParaRPr lang="en-US" sz="700" dirty="0"/>
          </a:p>
        </p:txBody>
      </p:sp>
      <p:sp>
        <p:nvSpPr>
          <p:cNvPr id="19" name="Shape 15"/>
          <p:cNvSpPr/>
          <p:nvPr/>
        </p:nvSpPr>
        <p:spPr>
          <a:xfrm>
            <a:off x="7570003" y="4167262"/>
            <a:ext cx="931059" cy="230386"/>
          </a:xfrm>
          <a:prstGeom prst="roundRect">
            <a:avLst/>
          </a:prstGeom>
          <a:solidFill>
            <a:srgbClr val="2B6777"/>
          </a:solidFill>
          <a:ln/>
        </p:spPr>
      </p:sp>
      <p:sp>
        <p:nvSpPr>
          <p:cNvPr id="20" name="Text 16"/>
          <p:cNvSpPr/>
          <p:nvPr/>
        </p:nvSpPr>
        <p:spPr>
          <a:xfrm>
            <a:off x="7570003" y="4167262"/>
            <a:ext cx="931059" cy="230386"/>
          </a:xfrm>
          <a:prstGeom prst="rect">
            <a:avLst/>
          </a:prstGeom>
          <a:noFill/>
          <a:ln/>
        </p:spPr>
        <p:txBody>
          <a:bodyPr wrap="none" lIns="127508" tIns="68072" rIns="1275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Anonymization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5143500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2B6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STEM Professionals as Essential Civic Actors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871538" y="1540148"/>
            <a:ext cx="3271838" cy="661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B6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Beyond Technicality:</a:t>
            </a:r>
            <a:r>
              <a:rPr lang="en-US" sz="11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 Evolving from technical </a:t>
            </a:r>
            <a:r>
              <a:rPr lang="en-US" sz="11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problem-solvers to active participants in public </a:t>
            </a:r>
            <a:r>
              <a:rPr lang="en-US" sz="11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policy and civic discourse.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71538" y="2451981"/>
            <a:ext cx="3271838" cy="661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B6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Interdisciplinary Dialogue:</a:t>
            </a:r>
            <a:r>
              <a:rPr lang="en-US" sz="11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 Fostering </a:t>
            </a:r>
            <a:r>
              <a:rPr lang="en-US" sz="11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collaboration between STEM, law, and social </a:t>
            </a:r>
            <a:r>
              <a:rPr lang="en-US" sz="11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sciences to address governance challenges.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0" y="1540148"/>
            <a:ext cx="3257550" cy="661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B6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Ethical Literacy:</a:t>
            </a:r>
            <a:r>
              <a:rPr lang="en-US" sz="11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 Integrating ethics and public </a:t>
            </a:r>
            <a:r>
              <a:rPr lang="en-US" sz="11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policy considerations into engineering education </a:t>
            </a:r>
            <a:r>
              <a:rPr lang="en-US" sz="11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and professional growth.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0" y="2451981"/>
            <a:ext cx="3257550" cy="661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B6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Policy Advocacy:</a:t>
            </a:r>
            <a:r>
              <a:rPr lang="en-US" sz="11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 Engaging in public debates </a:t>
            </a:r>
            <a:r>
              <a:rPr lang="en-US" sz="11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and informing legislative processes on critical </a:t>
            </a:r>
            <a:r>
              <a:rPr lang="en-US" sz="11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technology-related issues.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0970" y="4429125"/>
            <a:ext cx="428625" cy="428625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470" y="4429125"/>
            <a:ext cx="428625" cy="42862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3970" y="4429125"/>
            <a:ext cx="428625" cy="4286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705470" y="4545211"/>
            <a:ext cx="186703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2AB9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BRIDGING THE DIVIDE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4914900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2B6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Engineering a Resilient Digital Democracy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792956" y="1611585"/>
            <a:ext cx="469344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B6777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The Digital Intersection:</a:t>
            </a: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 Governance is no longer just policy; it is the technical </a:t>
            </a: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architecture we build.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92956" y="2154510"/>
            <a:ext cx="469344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B6777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The STEM Mandate:</a:t>
            </a: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 Engineers are the new civic architects, responsible for the </a:t>
            </a: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"Code that is Law."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71500" y="2983185"/>
            <a:ext cx="49149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A365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CALL TO ACTION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92956" y="3322513"/>
            <a:ext cx="398978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Integrate </a:t>
            </a:r>
            <a:r>
              <a:rPr lang="en-US" sz="1000" b="1" dirty="0">
                <a:solidFill>
                  <a:srgbClr val="2B6777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Civic Ethics</a:t>
            </a: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 into technical design and system development.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92956" y="3665413"/>
            <a:ext cx="402728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Engage in </a:t>
            </a:r>
            <a:r>
              <a:rPr lang="en-US" sz="1000" b="1" dirty="0">
                <a:solidFill>
                  <a:srgbClr val="2B6777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Interdisciplinary Dialogue</a:t>
            </a: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 between STEM, Law, and Policy.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92956" y="4008313"/>
            <a:ext cx="383798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Advocate for </a:t>
            </a:r>
            <a:r>
              <a:rPr lang="en-US" sz="1000" b="1" dirty="0">
                <a:solidFill>
                  <a:srgbClr val="2B6777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Transparent &amp; Inclusive</a:t>
            </a:r>
            <a:r>
              <a:rPr lang="en-US" sz="1050" dirty="0">
                <a:solidFill>
                  <a:srgbClr val="1E1E1E"/>
                </a:solidFill>
                <a:latin typeface="Crimson Pro Medium" pitchFamily="34" charset="0"/>
                <a:ea typeface="Crimson Pro Medium" pitchFamily="34" charset="-122"/>
                <a:cs typeface="Crimson Pro Medium" pitchFamily="34" charset="-120"/>
              </a:rPr>
              <a:t> digital public infrastructure.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52AB9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6422231" y="1857375"/>
            <a:ext cx="1785938" cy="1428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2026-06-21T07:13:47Z</dcterms:created>
  <dcterms:modified xsi:type="dcterms:W3CDTF">2026-06-21T07:13:47Z</dcterms:modified>
</cp:coreProperties>
</file>